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69848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0070F3"/>
                </a:solidFill>
              </a:rPr>
              <a:t>K.A.R.M.A CLOUD SIEM
</a:t>
            </a:r>
          </a:p>
          <a:p>
            <a:pPr algn="ctr"/>
            <a:r>
              <a:rPr sz="1800">
                <a:solidFill>
                  <a:srgbClr val="F8FAFC"/>
                </a:solidFill>
              </a:rPr>
              <a:t>Autonomous AI Threat Deception Platform &amp; Security Incident Event Management
</a:t>
            </a:r>
          </a:p>
          <a:p>
            <a:pPr algn="ctr"/>
            <a:r>
              <a:rPr sz="1300">
                <a:solidFill>
                  <a:srgbClr val="94A3B8"/>
                </a:solidFill>
              </a:rPr>
              <a:t>DEPARTMENT OF COMPUTER SCIENCE &amp; ENGINEERING • SEMESTER VI MAJOR PROJECT (20CS61P)
THE OXFORD EVENING POLYTECHNIC, BANGALORE
Project Guide &amp; Mentor: Mr. Subhash J R (Lecturer, Dept of CSE)
Development Team:
Abhijeet Kumar (Team Lead &amp; Core Architect)
Kanaka C (Security Analyst &amp; Frontend Engineer)
Raghunandan T V (Backend Engineer &amp; Threat Intelligence)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K.A.R.M.A CLOUD 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Executive Summary &amp; Project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Project Branding (K.A.R.M.A): </a:t>
            </a:r>
            <a:r>
              <a:rPr sz="1200">
                <a:solidFill>
                  <a:srgbClr val="94A3B8"/>
                </a:solidFill>
              </a:rPr>
              <a:t>Kanaka, Abhijeet, Raghunandan — Monitoring Engine &amp; Active Cyber Deception Architecture.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Core Cyber Philosophy: </a:t>
            </a:r>
            <a:r>
              <a:rPr sz="1200">
                <a:solidFill>
                  <a:srgbClr val="94A3B8"/>
                </a:solidFill>
              </a:rPr>
              <a:t>In Cybersecurity, KARMA signifies that an adversary's attack probes return directly to trap, profile, and isolate them automatically.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The Cybersecurity Problem: </a:t>
            </a:r>
            <a:r>
              <a:rPr sz="1200">
                <a:solidFill>
                  <a:srgbClr val="94A3B8"/>
                </a:solidFill>
              </a:rPr>
              <a:t>Traditional SIEM systems are passive log readers; stealthy reconnaissance probes and credential stuffing attacks evade standard firewalls with long dwell times.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The KARMA Solution: </a:t>
            </a:r>
            <a:r>
              <a:rPr sz="1200">
                <a:solidFill>
                  <a:srgbClr val="94A3B8"/>
                </a:solidFill>
              </a:rPr>
              <a:t>Deploys active protocol honeypots, honeytoken secrets, and automated DeepSeek AI threat intelligence to achieve 100% zero false-positive adversary isolation.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Academic Significance: </a:t>
            </a:r>
            <a:r>
              <a:rPr sz="1200">
                <a:solidFill>
                  <a:srgbClr val="94A3B8"/>
                </a:solidFill>
              </a:rPr>
              <a:t>Developed as a Semester VI Major Project (20CS61P) at The Oxford Evening Polytechnic under mentor Mr. Subhash J 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K.A.R.M.A CLOUD 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Multi-Layer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1. Deception Layer (Active Sensors): </a:t>
            </a:r>
            <a:r>
              <a:rPr sz="1200">
                <a:solidFill>
                  <a:srgbClr val="94A3B8"/>
                </a:solidFill>
              </a:rPr>
              <a:t>OpenSSH Server (Port 2222), Web Admin Trap (Port 8080), TCP Probe Decoys (Ports 21 FTP, 23 Telnet, 3389 RDP), and Honeytoken Vault (Port 8000).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2. Engine &amp; Transport Layer: </a:t>
            </a:r>
            <a:r>
              <a:rPr sz="1200">
                <a:solidFill>
                  <a:srgbClr val="94A3B8"/>
                </a:solidFill>
              </a:rPr>
              <a:t>FastAPI Asynchronous Web Gateway, WebSockets Telemetry Manager, and Thread-Safe Audit CSV Archiver.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3. Intelligence Layer: </a:t>
            </a:r>
            <a:r>
              <a:rPr sz="1200">
                <a:solidFill>
                  <a:srgbClr val="94A3B8"/>
                </a:solidFill>
              </a:rPr>
              <a:t>Automated MITRE ATT&amp;CK Taxonomy Classifier &amp; DeepSeek AI Neural Threat Synthesizer (deepseek-chat).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4. Presentation Layer: </a:t>
            </a:r>
            <a:r>
              <a:rPr sz="1200">
                <a:solidFill>
                  <a:srgbClr val="94A3B8"/>
                </a:solidFill>
              </a:rPr>
              <a:t>Futuristic Dark-Mode SOC Dashboard, Leaflet.js Attacker World Map, and Chart.js Zoomable Time-Series Line Plot.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5. Data Persistence: </a:t>
            </a:r>
            <a:r>
              <a:rPr sz="1200">
                <a:solidFill>
                  <a:srgbClr val="94A3B8"/>
                </a:solidFill>
              </a:rPr>
              <a:t>SQLite Relational Store for logs, IP profiles, MITRE statistics, and honeytoken hit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K.A.R.M.A CLOUD 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Real-Time SOC Dashboard &amp; Geolocation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Attacker Origin World Map: </a:t>
            </a:r>
            <a:r>
              <a:rPr sz="1200">
                <a:solidFill>
                  <a:srgbClr val="94A3B8"/>
                </a:solidFill>
              </a:rPr>
              <a:t>Interactive Leaflet.js map displaying live attacker IP locations, country flags, and threat score markers.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Zoomable Line Chart: </a:t>
            </a:r>
            <a:r>
              <a:rPr sz="1200">
                <a:solidFill>
                  <a:srgbClr val="94A3B8"/>
                </a:solidFill>
              </a:rPr>
              <a:t>Features ➕, ➖, and 🔄 Fit zoom controls with automatic X-axis label compression.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Uncapped Threat Analytics: </a:t>
            </a:r>
            <a:r>
              <a:rPr sz="1200">
                <a:solidFill>
                  <a:srgbClr val="94A3B8"/>
                </a:solidFill>
              </a:rPr>
              <a:t>Continuously tracks total attacks without arbitrary count caps.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Live WebSockets Stream: </a:t>
            </a:r>
            <a:r>
              <a:rPr sz="1200">
                <a:solidFill>
                  <a:srgbClr val="94A3B8"/>
                </a:solidFill>
              </a:rPr>
              <a:t>Pushes low-latency event alerts directly to the SOC table.</a:t>
            </a:r>
          </a:p>
        </p:txBody>
      </p:sp>
      <p:pic>
        <p:nvPicPr>
          <p:cNvPr id="5" name="Picture 4" descr="dashboard_summary_17875894026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60720" cy="2835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K.A.R.M.A CLOUD 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Active Protocol Honeypots &amp; Command Trapping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OpenSSH Honeypot (Port 2222): </a:t>
            </a:r>
            <a:r>
              <a:rPr sz="1200">
                <a:solidFill>
                  <a:srgbClr val="94A3B8"/>
                </a:solidFill>
              </a:rPr>
              <a:t>Built on Paramiko with persistent RSA keys (ssh_host_rsa_key). Traps authentication attempts and records interactive bash shell commands.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Command Telemetry: </a:t>
            </a:r>
            <a:r>
              <a:rPr sz="1200">
                <a:solidFill>
                  <a:srgbClr val="94A3B8"/>
                </a:solidFill>
              </a:rPr>
              <a:t>Captures whoami, id, cat /etc/passwd, mapping execution directly to MITRE ATT&amp;CK T1059.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Web Vulnerability Trap (Port 8080): </a:t>
            </a:r>
            <a:r>
              <a:rPr sz="1200">
                <a:solidFill>
                  <a:srgbClr val="94A3B8"/>
                </a:solidFill>
              </a:rPr>
              <a:t>Traps SQL Injection (UNION SELECT), XSS, and Directory Traversal probes.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Port Scan Probes (21, 23, 3389): </a:t>
            </a:r>
            <a:r>
              <a:rPr sz="1200">
                <a:solidFill>
                  <a:srgbClr val="94A3B8"/>
                </a:solidFill>
              </a:rPr>
              <a:t>Detects early Nmap / Masscan service discovery scans (MITRE T1046).</a:t>
            </a:r>
          </a:p>
        </p:txBody>
      </p:sp>
      <p:pic>
        <p:nvPicPr>
          <p:cNvPr id="5" name="Picture 4" descr="decoy_sensors_17875894255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60720" cy="2835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K.A.R.M.A CLOUD 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Honeytoken Vault &amp; Secret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Decoy Credentials &amp; API Keys: </a:t>
            </a:r>
            <a:r>
              <a:rPr sz="1200">
                <a:solidFill>
                  <a:srgbClr val="94A3B8"/>
                </a:solidFill>
              </a:rPr>
              <a:t>Deploys fake AWS Access Keys (AKIA...), database connection strings, and staging passwords.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Backdoor Path Traps: </a:t>
            </a:r>
            <a:r>
              <a:rPr sz="1200">
                <a:solidFill>
                  <a:srgbClr val="94A3B8"/>
                </a:solidFill>
              </a:rPr>
              <a:t>Monitors sensitive URL endpoints like /secret-vault-admin-login-php on Port 8000.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Zero False-Positives: </a:t>
            </a:r>
            <a:r>
              <a:rPr sz="1200">
                <a:solidFill>
                  <a:srgbClr val="94A3B8"/>
                </a:solidFill>
              </a:rPr>
              <a:t>Legitimate users have no operational reason to touch honeytokens; any hit is a confirmed 100% security breach attempt.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Instant Critical Alerts: </a:t>
            </a:r>
            <a:r>
              <a:rPr sz="1200">
                <a:solidFill>
                  <a:srgbClr val="94A3B8"/>
                </a:solidFill>
              </a:rPr>
              <a:t>Triggers high-priority SOC alerts and automatic IP quarantine.</a:t>
            </a:r>
          </a:p>
        </p:txBody>
      </p:sp>
      <p:pic>
        <p:nvPicPr>
          <p:cNvPr id="5" name="Picture 4" descr="honeytokens_1787589413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60720" cy="2835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K.A.R.M.A CLOUD 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Automated MITRE ATT&amp;CK Framework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T1046 Network Service Discovery: </a:t>
            </a:r>
            <a:r>
              <a:rPr sz="1200">
                <a:solidFill>
                  <a:srgbClr val="94A3B8"/>
                </a:solidFill>
              </a:rPr>
              <a:t>Triggered by port scan probes on FTP 21, Telnet 23, and RDP 3389.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T1110 Brute Force: </a:t>
            </a:r>
            <a:r>
              <a:rPr sz="1200">
                <a:solidFill>
                  <a:srgbClr val="94A3B8"/>
                </a:solidFill>
              </a:rPr>
              <a:t>Triggered by repeated SSH / Web authentication failures.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T1059 Command &amp; Scripting Interpreter: </a:t>
            </a:r>
            <a:r>
              <a:rPr sz="1200">
                <a:solidFill>
                  <a:srgbClr val="94A3B8"/>
                </a:solidFill>
              </a:rPr>
              <a:t>Triggered by interactive bash commands executed inside fake SSH shell.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T1190 Exploit Public-Facing Application: </a:t>
            </a:r>
            <a:r>
              <a:rPr sz="1200">
                <a:solidFill>
                  <a:srgbClr val="94A3B8"/>
                </a:solidFill>
              </a:rPr>
              <a:t>Triggered by SQLi / XSS payloads on Port 8080.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T1078 Valid Accounts / Secret Access: </a:t>
            </a:r>
            <a:r>
              <a:rPr sz="1200">
                <a:solidFill>
                  <a:srgbClr val="94A3B8"/>
                </a:solidFill>
              </a:rPr>
              <a:t>Triggered by Honeytoken secret key access.</a:t>
            </a:r>
          </a:p>
        </p:txBody>
      </p:sp>
      <p:pic>
        <p:nvPicPr>
          <p:cNvPr id="5" name="Picture 4" descr="mitre_attack_17875894385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60720" cy="28353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K.A.R.M.A CLOUD 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DeepSeek AI Threat Intelligence &amp; Active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AI Incident Response Reports: </a:t>
            </a:r>
            <a:r>
              <a:rPr sz="1200">
                <a:solidFill>
                  <a:srgbClr val="94A3B8"/>
                </a:solidFill>
              </a:rPr>
              <a:t>Sends raw telemetry payload streams to DeepSeek-V4 API (deepseek-chat) to generate executive forensic reports.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Adversary Intent Synthesis: </a:t>
            </a:r>
            <a:r>
              <a:rPr sz="1200">
                <a:solidFill>
                  <a:srgbClr val="94A3B8"/>
                </a:solidFill>
              </a:rPr>
              <a:t>Evaluates attacker intent (Credential Harvesting, CEO Fraud, Network Reconnaissance) and assigns risk scores (0-100%).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SOC Remediation Steps: </a:t>
            </a:r>
            <a:r>
              <a:rPr sz="1200">
                <a:solidFill>
                  <a:srgbClr val="94A3B8"/>
                </a:solidFill>
              </a:rPr>
              <a:t>Provides step-by-step actionable mitigation guidelines for security analysts.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Active Defense &amp; Quarantine: </a:t>
            </a:r>
            <a:r>
              <a:rPr sz="1200">
                <a:solidFill>
                  <a:srgbClr val="94A3B8"/>
                </a:solidFill>
              </a:rPr>
              <a:t>Automated IP quarantine engine blocks high-risk adversary IPs in real time to prevent lateral subnet movement.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K.A.R.M.A CLOUD 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Cyber Toolkit: Password Security &amp; Market Hasher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Zero-Storage Privacy Banner: </a:t>
            </a:r>
            <a:r>
              <a:rPr sz="1200">
                <a:solidFill>
                  <a:srgbClr val="94A3B8"/>
                </a:solidFill>
              </a:rPr>
              <a:t>Displays prominent notice: WE DO NOT STORE OR LOG PASSWORDS AT ALL! All checks executed in client memory.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Real-Time Entropy Meter: </a:t>
            </a:r>
            <a:r>
              <a:rPr sz="1200">
                <a:solidFill>
                  <a:srgbClr val="94A3B8"/>
                </a:solidFill>
              </a:rPr>
              <a:t>Calculates entropy bits based on length and character set diversity (Upper, Lower, Number, Symbol).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GPU Offline Crack Estimation: </a:t>
            </a:r>
            <a:r>
              <a:rPr sz="1200">
                <a:solidFill>
                  <a:srgbClr val="94A3B8"/>
                </a:solidFill>
              </a:rPr>
              <a:t>Estimates brute-force time against 100 Billion hashes/sec GPU clusters (e.g. Instant, 142 Years).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Market Cryptographic Hashes: </a:t>
            </a:r>
            <a:r>
              <a:rPr sz="1200">
                <a:solidFill>
                  <a:srgbClr val="94A3B8"/>
                </a:solidFill>
              </a:rPr>
              <a:t>Computes SHA-256, SHA-512, and MD5 hashes with one-click copy buttons.</a:t>
            </a:r>
          </a:p>
        </p:txBody>
      </p:sp>
      <p:pic>
        <p:nvPicPr>
          <p:cNvPr id="5" name="Picture 4" descr="password_hasher_1787589453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60720" cy="28353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K.A.R.M.A CLOUD 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Cyber Toolkit: AI Phishing .EML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Drag-and-Drop .EML Parser: </a:t>
            </a:r>
            <a:r>
              <a:rPr sz="1200">
                <a:solidFill>
                  <a:srgbClr val="94A3B8"/>
                </a:solidFill>
              </a:rPr>
              <a:t>Uploads raw .eml / .msg RFC822 MIME email files for deep inspection.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RFC822 Header Forensics: </a:t>
            </a:r>
            <a:r>
              <a:rPr sz="1200">
                <a:solidFill>
                  <a:srgbClr val="94A3B8"/>
                </a:solidFill>
              </a:rPr>
              <a:t>Parses From, To, Subject, Date, Return-Path, and SPF/DKIM verification records.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Header Spoofing Detection: </a:t>
            </a:r>
            <a:r>
              <a:rPr sz="1200">
                <a:solidFill>
                  <a:srgbClr val="94A3B8"/>
                </a:solidFill>
              </a:rPr>
              <a:t>Detects domain mismatches between Return-Path and From sender headers.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DeepSeek AI Analysis: </a:t>
            </a:r>
            <a:r>
              <a:rPr sz="1200">
                <a:solidFill>
                  <a:srgbClr val="94A3B8"/>
                </a:solidFill>
              </a:rPr>
              <a:t>Evaluates pressure tactics, credential harvesting links, and outputs Phishing Risk Score &amp; SOC steps.</a:t>
            </a:r>
          </a:p>
        </p:txBody>
      </p:sp>
      <p:pic>
        <p:nvPicPr>
          <p:cNvPr id="5" name="Picture 4" descr="phishing_analyzer_17875894686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60720" cy="28353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K.A.R.M.A CLOUD SIEM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Academic Documentation &amp; Standalone Executable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Capstone Formats (1 to 8): </a:t>
            </a:r>
            <a:r>
              <a:rPr sz="1200">
                <a:solidFill>
                  <a:srgbClr val="94A3B8"/>
                </a:solidFill>
              </a:rPr>
              <a:t>Generated all 7 official Word formats (.docx) including Scope, WBS, Schedule, Cost, Execution, Weekly Status, and Log Book.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Standalone Executable (setup.py): </a:t>
            </a:r>
            <a:r>
              <a:rPr sz="1200">
                <a:solidFill>
                  <a:srgbClr val="94A3B8"/>
                </a:solidFill>
              </a:rPr>
              <a:t>Compiles into dist/KARMA_Cloud_SIEM_Standalone_v1.0.zip (53.1 MB) using PyInstaller.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Zero Software Dependencies: </a:t>
            </a:r>
            <a:r>
              <a:rPr sz="1200">
                <a:solidFill>
                  <a:srgbClr val="94A3B8"/>
                </a:solidFill>
              </a:rPr>
              <a:t>Can be copied to any Windows PC and run by double-clicking KARMA_Cloud_SIEM.exe without Python or pip.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70F3"/>
                </a:solidFill>
              </a:rPr>
              <a:t>• GitHub Repository: </a:t>
            </a:r>
            <a:r>
              <a:rPr sz="1200">
                <a:solidFill>
                  <a:srgbClr val="94A3B8"/>
                </a:solidFill>
              </a:rPr>
              <a:t>Full source code available at https://github.com/abhikr1436/KARMA-HoneyPot.git.</a:t>
            </a:r>
          </a:p>
        </p:txBody>
      </p:sp>
      <p:pic>
        <p:nvPicPr>
          <p:cNvPr id="5" name="Picture 4" descr="about_project_178758948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60720" cy="28353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69848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10B981"/>
                </a:solidFill>
              </a:rPr>
              <a:t>THANK YOU!
</a:t>
            </a:r>
          </a:p>
          <a:p>
            <a:pPr algn="ctr"/>
            <a:r>
              <a:rPr sz="1600">
                <a:solidFill>
                  <a:srgbClr val="F8FAFC"/>
                </a:solidFill>
              </a:rPr>
              <a:t>K.A.R.M.A CLOUD SIEM — AUTONOMOUS AI THREAT DECEPTION PLATFORM
</a:t>
            </a:r>
          </a:p>
          <a:p>
            <a:pPr algn="ctr"/>
            <a:r>
              <a:rPr sz="1400">
                <a:solidFill>
                  <a:srgbClr val="94A3B8"/>
                </a:solidFill>
              </a:rPr>
              <a:t>Department of Computer Science &amp; Engineering • Major Project (20CS61P)
The Oxford Evening Polytechnic, Bangalore
Questions &amp; Answers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
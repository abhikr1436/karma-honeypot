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9"/>
    <p:sldId id="26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0073" autoAdjust="0"/>
  </p:normalViewPr>
  <p:slideViewPr>
    <p:cSldViewPr snapToGrid="0" snapToObjects="1">
      <p:cViewPr varScale="1">
        <p:scale>
          <a:sx n="100" d="100"/>
          <a:sy n="100" d="100"/>
        </p:scale>
        <p:origin x="95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417CE-DD9D-4A07-9A4F-CF7721CD7300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EBDBE-B206-46CD-B711-1855086078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351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EBDBE-B206-46CD-B711-185508607896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96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CEBDBE-B206-46CD-B711-18550860789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580124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731520"/>
            <a:ext cx="1069848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400"/>
              </a:spcBef>
            </a:pPr>
            <a:r>
              <a:rPr sz="3600" b="1">
                <a:solidFill>
                  <a:srgbClr val="00E5FF"/>
                </a:solidFill>
                <a:latin typeface="Segoe UI"/>
              </a:rPr>
              <a:t>                   CLOUD SIEM</a:t>
            </a:r>
          </a:p>
          <a:p>
            <a:pPr algn="ctr">
              <a:spcBef>
                <a:spcPts val="800"/>
              </a:spcBef>
              <a:spcAft>
                <a:spcPts val="1400"/>
              </a:spcAft>
            </a:pPr>
            <a:r>
              <a:rPr sz="1500">
                <a:solidFill>
                  <a:srgbClr val="CBD5E1"/>
                </a:solidFill>
                <a:latin typeface="Segoe UI"/>
              </a:rPr>
              <a:t>Autonomous AI Threat Deception Platform &amp; Security Incident Event Management</a:t>
            </a:r>
          </a:p>
          <a:p>
            <a:pPr algn="ctr">
              <a:spcBef>
                <a:spcPts val="1000"/>
              </a:spcBef>
            </a:pPr>
            <a:r>
              <a:rPr sz="1200" b="1">
                <a:solidFill>
                  <a:srgbClr val="94A3B8"/>
                </a:solidFill>
                <a:latin typeface="Segoe UI"/>
              </a:rPr>
              <a:t>DEPARTMENT OF COMPUTER SCIENCE &amp; ENGINEERING • CAPSTONE PROJECT (20CS61P)
THE OXFORD EVENING POLYTECHNIC, BENGALURU
</a:t>
            </a:r>
          </a:p>
          <a:p>
            <a:pPr algn="ctr">
              <a:spcBef>
                <a:spcPts val="800"/>
              </a:spcBef>
            </a:pPr>
            <a:r>
              <a:rPr sz="1200" b="1">
                <a:solidFill>
                  <a:srgbClr val="38BDF8"/>
                </a:solidFill>
                <a:latin typeface="Segoe UI"/>
              </a:rPr>
              <a:t>Project Guide &amp; Mentor: Mr. Subhash J R (Lecturer, Dept of CSE)
</a:t>
            </a:r>
          </a:p>
          <a:p>
            <a:pPr algn="ctr">
              <a:spcBef>
                <a:spcPts val="600"/>
              </a:spcBef>
            </a:pPr>
            <a:r>
              <a:rPr sz="1150">
                <a:solidFill>
                  <a:srgbClr val="F1F5F9"/>
                </a:solidFill>
                <a:latin typeface="Segoe UI"/>
              </a:rPr>
              <a:t>Development Team:
• Abhijeet Kumar (Team Lead &amp; Core Architect — 470CS24701)
• Kanaka C (Security Analyst &amp; Frontend Engineer — 470CS23005)
• Raghunandan T V (Backend Engineer &amp; Threat Intelligence — 470CS23010)
• Sanjay Kashyap (Security QA &amp; Penetration Testing Specialist — 470CS23015)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19BD78-64D6-4D15-822F-D71E5C6086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0712" y="1434938"/>
            <a:ext cx="2128266" cy="6876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Executive Summary &amp; Project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• Project Branding (K.A.R.M.A): </a:t>
            </a:r>
            <a:r>
              <a:rPr sz="1300">
                <a:solidFill>
                  <a:srgbClr val="E2E8F0"/>
                </a:solidFill>
                <a:latin typeface="Segoe UI"/>
              </a:rPr>
              <a:t>Kanaka, Abhijeet, Raghunandan, Mentored by Subhash J R &amp; Security QA by Sanjay Kashyap — Active Cyber Deception Architecture.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• Core Cyber Philosophy: </a:t>
            </a:r>
            <a:r>
              <a:rPr sz="1300">
                <a:solidFill>
                  <a:srgbClr val="E2E8F0"/>
                </a:solidFill>
                <a:latin typeface="Segoe UI"/>
              </a:rPr>
              <a:t>In Cybersecurity, KARMA signifies that an adversary's attack probes return directly to trap, profile, and isolate them automatically with zero collateral damage.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• The Cybersecurity Problem: </a:t>
            </a:r>
            <a:r>
              <a:rPr sz="1300">
                <a:solidFill>
                  <a:srgbClr val="E2E8F0"/>
                </a:solidFill>
                <a:latin typeface="Segoe UI"/>
              </a:rPr>
              <a:t>Traditional SIEM systems are passive log readers; stealthy reconnaissance probes and credential stuffing attacks evade standard firewalls with long dwell times and high false positives.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• The KARMA Solution: </a:t>
            </a:r>
            <a:r>
              <a:rPr sz="1300">
                <a:solidFill>
                  <a:srgbClr val="E2E8F0"/>
                </a:solidFill>
                <a:latin typeface="Segoe UI"/>
              </a:rPr>
              <a:t>Deploys multi-protocol honeypots (SSH, Web, TCP), canary honeytokens, automated MITRE ATT&amp;CK scoring, and DeepSeek AI threat intelligence to achieve 100% zero-false-positive adversary isolation.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sz="1300" b="1">
                <a:solidFill>
                  <a:srgbClr val="38BDF8"/>
                </a:solidFill>
                <a:latin typeface="Segoe UI"/>
              </a:rPr>
              <a:t>• Academic Significance: </a:t>
            </a:r>
            <a:r>
              <a:rPr sz="1300">
                <a:solidFill>
                  <a:srgbClr val="E2E8F0"/>
                </a:solidFill>
                <a:latin typeface="Segoe UI"/>
              </a:rPr>
              <a:t>Developed as a Semester VI Capstone Major Project (20CS61P) at The Oxford Evening Polytechnic under the continuous mentorship of Mr. Subhash J 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3F2FA7-0927-B2AF-7A86-409E622B01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Multi-Layer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303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00" b="1">
                <a:solidFill>
                  <a:srgbClr val="0070F3"/>
                </a:solidFill>
              </a:rPr>
              <a:t>• 1. Deception Layer (Active Sensors): </a:t>
            </a:r>
            <a:r>
              <a:rPr sz="1100">
                <a:solidFill>
                  <a:srgbClr val="94A3B8"/>
                </a:solidFill>
              </a:rPr>
              <a:t>OpenSSH Server (Port 2222), Web Admin Trap (Port 8080), TCP Probe Decoys (Ports 21 FTP, 23 Telnet, 3389 RDP), and Honeytoken Vault (Port 8000).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70F3"/>
                </a:solidFill>
              </a:rPr>
              <a:t>• 2. Engine &amp; Transport Layer: </a:t>
            </a:r>
            <a:r>
              <a:rPr sz="1100">
                <a:solidFill>
                  <a:srgbClr val="94A3B8"/>
                </a:solidFill>
              </a:rPr>
              <a:t>FastAPI Asynchronous Web Gateway, WebSockets Telemetry Manager, and Thread-Safe Audit CSV Archiver.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70F3"/>
                </a:solidFill>
              </a:rPr>
              <a:t>• 3. Intelligence Layer: </a:t>
            </a:r>
            <a:r>
              <a:rPr sz="1100">
                <a:solidFill>
                  <a:srgbClr val="94A3B8"/>
                </a:solidFill>
              </a:rPr>
              <a:t>Automated MITRE ATT&amp;CK Taxonomy Classifier &amp; DeepSeek AI Neural Threat Synthesizer (deepseek-chat).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70F3"/>
                </a:solidFill>
              </a:rPr>
              <a:t>• 4. Presentation Layer: </a:t>
            </a:r>
            <a:r>
              <a:rPr sz="1100">
                <a:solidFill>
                  <a:srgbClr val="94A3B8"/>
                </a:solidFill>
              </a:rPr>
              <a:t>Futuristic Dark-Mode SOC Dashboard, Leaflet.js Attacker World Map, and Chart.js Zoomable Time-Series Line Plot.</a:t>
            </a:r>
          </a:p>
          <a:p>
            <a:pPr>
              <a:spcAft>
                <a:spcPts val="1000"/>
              </a:spcAft>
            </a:pPr>
            <a:r>
              <a:rPr sz="1100" b="1">
                <a:solidFill>
                  <a:srgbClr val="0070F3"/>
                </a:solidFill>
              </a:rPr>
              <a:t>• 5. Data Persistence: </a:t>
            </a:r>
            <a:r>
              <a:rPr sz="1100">
                <a:solidFill>
                  <a:srgbClr val="94A3B8"/>
                </a:solidFill>
              </a:rPr>
              <a:t>SQLite Relational Store for logs, IP profiles, MITRE statistics, and honeytoken hit history.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09D220-8AF0-A882-5946-9F5F8D94DD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  <p:pic>
        <p:nvPicPr>
          <p:cNvPr id="7" name="Picture 6" descr="fig_architecture_b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280160"/>
            <a:ext cx="5669280" cy="3525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creensho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0"/>
            <a:ext cx="11091672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Real-Time SOC Dashboard &amp; Geolocation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05522" y="5900166"/>
            <a:ext cx="2871216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0070F3"/>
                </a:solidFill>
              </a:rPr>
              <a:t>🌐 Attacker Geolocation World Map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Leaflet.js interactive map rendering live attacker IP locations, country flags, and risk score markers.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33632" y="5900166"/>
            <a:ext cx="2072643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 dirty="0">
                <a:solidFill>
                  <a:srgbClr val="10B981"/>
                </a:solidFill>
              </a:rPr>
              <a:t>⚡ Zoomable Line Plot (➕ ➖ 🔄)
</a:t>
            </a:r>
          </a:p>
          <a:p>
            <a:pPr algn="ctr"/>
            <a:r>
              <a:rPr sz="900" dirty="0">
                <a:solidFill>
                  <a:srgbClr val="94A3B8"/>
                </a:solidFill>
              </a:rPr>
              <a:t>Real-time attack velocity trends with interactive zoom controls and auto-compressing X-axis labels.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59027" y="5900166"/>
            <a:ext cx="2688336" cy="91440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8B5CF6"/>
                </a:solidFill>
              </a:rPr>
              <a:t>📊 Live WebSockets Telemetry Stream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Low-latency event streaming pushing incoming threat telemetry directly to the active SOC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04258" y="5900166"/>
            <a:ext cx="2944369" cy="957834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50" b="1">
                <a:solidFill>
                  <a:srgbClr val="F59E0B"/>
                </a:solidFill>
              </a:rPr>
              <a:t>🛡️ Uncapped Threat Metrics Bar
</a:t>
            </a:r>
          </a:p>
          <a:p>
            <a:pPr algn="ctr"/>
            <a:r>
              <a:rPr sz="900">
                <a:solidFill>
                  <a:srgbClr val="94A3B8"/>
                </a:solidFill>
              </a:rPr>
              <a:t>Continuously tracks real-time attack counts, audit logs, and active IP quarantines without artificial caps.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227242F-2F35-49CD-A74C-4D3162EFCA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Active Protocol Honeypots &amp; Command Trapping</a:t>
            </a:r>
          </a:p>
        </p:txBody>
      </p:sp>
      <p:pic>
        <p:nvPicPr>
          <p:cNvPr id="4" name="Picture 3" descr="decoy_sensors_17875894255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368676" y="5955030"/>
            <a:ext cx="2663190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🔑 OpenSSH Honeypot (Port 2222)
</a:t>
            </a:r>
          </a:p>
          <a:p>
            <a:pPr algn="ctr"/>
            <a:r>
              <a:rPr sz="950" dirty="0" err="1">
                <a:solidFill>
                  <a:srgbClr val="94A3B8"/>
                </a:solidFill>
              </a:rPr>
              <a:t>Paramiko</a:t>
            </a:r>
            <a:r>
              <a:rPr sz="950" dirty="0">
                <a:solidFill>
                  <a:srgbClr val="94A3B8"/>
                </a:solidFill>
              </a:rPr>
              <a:t> SSH server with persistent RSA keys; traps auth attempts and logs interactive bash commands.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36381" y="5955030"/>
            <a:ext cx="2676524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🌐 Web Admin Decoy (Port 8080)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Simulated vulnerable web portal trapping SQL Injection (UNION SELECT), XSS, and Path Traversal.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955030"/>
            <a:ext cx="2663190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📡 Network Decoy Probes (21, 23, 3389)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FTP, Telnet, and RDP socket listeners detecting early Nmap / Masscan service discovery (MITRE T1046).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8712" y="5955030"/>
            <a:ext cx="2790824" cy="83439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59E0B"/>
                </a:solidFill>
              </a:rPr>
              <a:t>⚡ Interactive Command Trapping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Captures executed bash commands (</a:t>
            </a:r>
            <a:r>
              <a:rPr sz="950" dirty="0" err="1">
                <a:solidFill>
                  <a:srgbClr val="94A3B8"/>
                </a:solidFill>
              </a:rPr>
              <a:t>whoami</a:t>
            </a:r>
            <a:r>
              <a:rPr sz="950" dirty="0">
                <a:solidFill>
                  <a:srgbClr val="94A3B8"/>
                </a:solidFill>
              </a:rPr>
              <a:t>, id, cat /</a:t>
            </a:r>
            <a:r>
              <a:rPr sz="950" dirty="0" err="1">
                <a:solidFill>
                  <a:srgbClr val="94A3B8"/>
                </a:solidFill>
              </a:rPr>
              <a:t>etc</a:t>
            </a:r>
            <a:r>
              <a:rPr sz="950" dirty="0">
                <a:solidFill>
                  <a:srgbClr val="94A3B8"/>
                </a:solidFill>
              </a:rPr>
              <a:t>/passwd) and maps to MITRE ATT&amp;CK T1059.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1592B7D-0F4D-0681-A7E4-BC262350C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Honeytoken Vault &amp; Secret Traps</a:t>
            </a:r>
          </a:p>
        </p:txBody>
      </p:sp>
      <p:pic>
        <p:nvPicPr>
          <p:cNvPr id="4" name="Picture 3" descr="honeytokens_17875894135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788542" y="5806440"/>
            <a:ext cx="2516886" cy="87165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70F3"/>
                </a:solidFill>
              </a:rPr>
              <a:t>🗝️ Decoy AWS Access Keys
</a:t>
            </a:r>
          </a:p>
          <a:p>
            <a:r>
              <a:rPr sz="950">
                <a:solidFill>
                  <a:srgbClr val="94A3B8"/>
                </a:solidFill>
              </a:rPr>
              <a:t>Deploys fake AWS keys (AKIA...) in config traps to catch cloud credential harvesters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54441" y="5806440"/>
            <a:ext cx="2666999" cy="87165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59E0B"/>
                </a:solidFill>
              </a:rPr>
              <a:t>🚨 Admin Backdoor Traps
</a:t>
            </a:r>
          </a:p>
          <a:p>
            <a:r>
              <a:rPr sz="950">
                <a:solidFill>
                  <a:srgbClr val="94A3B8"/>
                </a:solidFill>
              </a:rPr>
              <a:t>Monitors decoy endpoints like /secret-vault-admin-login-php on Port 8000 for unauthorised access.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28312" y="5806440"/>
            <a:ext cx="3103245" cy="87165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🎯 100% Zero False-Positive Alerts
</a:t>
            </a:r>
          </a:p>
          <a:p>
            <a:r>
              <a:rPr sz="950" dirty="0">
                <a:solidFill>
                  <a:srgbClr val="94A3B8"/>
                </a:solidFill>
              </a:rPr>
              <a:t>Legitimate users have no operational reason to touch honeytokens; any access triggers immediate IP quarantine.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33F0E8-BCB7-3681-AF74-777189E548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89354" y="53228"/>
            <a:ext cx="53305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F8FAFC"/>
                </a:solidFill>
              </a:rPr>
              <a:t>Automated MITRE ATT&amp;CK Framework Mapping</a:t>
            </a:r>
          </a:p>
        </p:txBody>
      </p:sp>
      <p:pic>
        <p:nvPicPr>
          <p:cNvPr id="4" name="Picture 3" descr="mitre_attack_17875894385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47841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57175" y="5919254"/>
            <a:ext cx="2701290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0070F3"/>
                </a:solidFill>
              </a:rPr>
              <a:t>🔍 T1046 Network Service Discovery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Mapped automatically when port scan probes hit FTP (21), Telnet (23), or RDP (3389).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9925" y="5919254"/>
            <a:ext cx="2828924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F59E0B"/>
                </a:solidFill>
              </a:rPr>
              <a:t>🔑 T1110 Brute Force &amp; T1078 Credentials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Mapped when SSH auth fails repeatedly or honeytoken secret keys are accessed.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0309" y="5919254"/>
            <a:ext cx="2701290" cy="78778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8B5CF6"/>
                </a:solidFill>
              </a:rPr>
              <a:t>💻 T1059 Command &amp; Scripting Interpreter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Mapped when attackers execute bash commands inside the OpenSSH honeypot shell.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3059" y="5919254"/>
            <a:ext cx="2701290" cy="78778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🌐 T1190 Exploit Public-Facing App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Mapped when SQLi or XSS payloads target the Port 8080 Web Admin Decoy.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117AE8-82BC-C9D2-3E95-8A9341F8B2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DeepSeek AI Threat Intelligence &amp; Active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150" b="1">
                <a:solidFill>
                  <a:srgbClr val="0070F3"/>
                </a:solidFill>
              </a:rPr>
              <a:t>• AI Incident Response Reports: </a:t>
            </a:r>
            <a:r>
              <a:rPr sz="1150">
                <a:solidFill>
                  <a:srgbClr val="94A3B8"/>
                </a:solidFill>
              </a:rPr>
              <a:t>Sends raw telemetry payload streams to DeepSeek-V4 API (deepseek-chat) to generate executive forensic reports.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70F3"/>
                </a:solidFill>
              </a:rPr>
              <a:t>• Adversary Intent Synthesis: </a:t>
            </a:r>
            <a:r>
              <a:rPr sz="1150">
                <a:solidFill>
                  <a:srgbClr val="94A3B8"/>
                </a:solidFill>
              </a:rPr>
              <a:t>Evaluates attacker intent (Credential Harvesting, CEO Fraud, Network Reconnaissance) and assigns risk scores (0-100%).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70F3"/>
                </a:solidFill>
              </a:rPr>
              <a:t>• SOC Remediation Steps: </a:t>
            </a:r>
            <a:r>
              <a:rPr sz="1150">
                <a:solidFill>
                  <a:srgbClr val="94A3B8"/>
                </a:solidFill>
              </a:rPr>
              <a:t>Provides step-by-step actionable mitigation guidelines for security analysts.</a:t>
            </a:r>
          </a:p>
          <a:p>
            <a:pPr>
              <a:spcAft>
                <a:spcPts val="1000"/>
              </a:spcAft>
            </a:pPr>
            <a:r>
              <a:rPr sz="1150" b="1">
                <a:solidFill>
                  <a:srgbClr val="0070F3"/>
                </a:solidFill>
              </a:rPr>
              <a:t>• Active Defense &amp; Quarantine: </a:t>
            </a:r>
            <a:r>
              <a:rPr sz="1150">
                <a:solidFill>
                  <a:srgbClr val="94A3B8"/>
                </a:solidFill>
              </a:rPr>
              <a:t>Automated IP quarantine engine blocks high-risk adversary IPs in real time to prevent lateral subnet movement.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25DD2F-F579-FAA2-B344-427FB612F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  <p:pic>
        <p:nvPicPr>
          <p:cNvPr id="6" name="Picture 5" descr="screenshot_ai_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4864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_toolk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0"/>
            <a:ext cx="11091672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Cyber Toolkit: Password Security &amp; Market Hasher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78989" y="5960744"/>
            <a:ext cx="2844165" cy="78867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F59E0B"/>
                </a:solidFill>
              </a:rPr>
              <a:t>⚠️ Zero-Storage Privacy Banner
</a:t>
            </a:r>
          </a:p>
          <a:p>
            <a:pPr algn="ctr"/>
            <a:r>
              <a:rPr sz="950">
                <a:solidFill>
                  <a:srgbClr val="94A3B8"/>
                </a:solidFill>
              </a:rPr>
              <a:t>Prominently guarantees that passwords are evaluated 100% in-memory on client device with zero storage.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71256" y="5960744"/>
            <a:ext cx="2971799" cy="7886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⚡ Real-Time Entropy &amp; GPU Crack Time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Calculates entropy bits and estimates resistance against 100B hashes/sec GPU clusters.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9845" y="5960744"/>
            <a:ext cx="3474720" cy="7886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🔒 Market Cryptographic Hashes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Computes SHA-256, SHA-512, and MD5 hashes with one-click copy clipboard buttons.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43D85E4-9BF9-F2F4-7EBC-C1FE2E5F49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Cyber Toolkit: AI Phishing .EML Analyzer</a:t>
            </a:r>
          </a:p>
        </p:txBody>
      </p:sp>
      <p:pic>
        <p:nvPicPr>
          <p:cNvPr id="4" name="Picture 3" descr="phishing_analyzer_17875894686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94415" cy="54406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089481" y="5989320"/>
            <a:ext cx="2787015" cy="7315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📂 Drag-and-Drop .EML File Parser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Uploads raw .</a:t>
            </a:r>
            <a:r>
              <a:rPr sz="950" dirty="0" err="1">
                <a:solidFill>
                  <a:srgbClr val="94A3B8"/>
                </a:solidFill>
              </a:rPr>
              <a:t>eml</a:t>
            </a:r>
            <a:r>
              <a:rPr sz="950" dirty="0">
                <a:solidFill>
                  <a:srgbClr val="94A3B8"/>
                </a:solidFill>
              </a:rPr>
              <a:t> / .msg RFC822 MIME email files for deep structure inspection.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0781" y="5989320"/>
            <a:ext cx="2962274" cy="731519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8B5CF6"/>
                </a:solidFill>
              </a:rPr>
              <a:t>📑 RFC822 MIME Header Forensics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Parses From, To, Subject, Return-Path domain alignment, and SPF/DKIM verification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2241" y="5989320"/>
            <a:ext cx="3312795" cy="73152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🤖 </a:t>
            </a:r>
            <a:r>
              <a:rPr sz="1100" b="1" dirty="0" err="1">
                <a:solidFill>
                  <a:srgbClr val="10B981"/>
                </a:solidFill>
              </a:rPr>
              <a:t>DeepSeek</a:t>
            </a:r>
            <a:r>
              <a:rPr sz="1100" b="1" dirty="0">
                <a:solidFill>
                  <a:srgbClr val="10B981"/>
                </a:solidFill>
              </a:rPr>
              <a:t> AI Threat Assessment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Evaluates urgency tactics, domain spoofing, malicious links, and outputs SOC remediation steps.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A9AFC4-BF19-EA22-59B7-AFB6BDD71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creenshot_quarant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1097280"/>
            <a:ext cx="11091672" cy="457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8FAFC"/>
                </a:solidFill>
              </a:rPr>
              <a:t>Academic Documentation &amp; Standalone Executable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14549" y="5979794"/>
            <a:ext cx="2767965" cy="750570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0070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0070F3"/>
                </a:solidFill>
              </a:rPr>
              <a:t>🏛️ Academic Project Information
</a:t>
            </a:r>
          </a:p>
          <a:p>
            <a:pPr algn="ctr"/>
            <a:r>
              <a:rPr sz="950" dirty="0">
                <a:solidFill>
                  <a:srgbClr val="94A3B8"/>
                </a:solidFill>
              </a:rPr>
              <a:t>Department of CSE, The Oxford Evening Polytechnic, Sem VI Major Project (20CS61P).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48250" y="5979794"/>
            <a:ext cx="4200524" cy="750571"/>
          </a:xfrm>
          <a:prstGeom prst="roundRect">
            <a:avLst/>
          </a:prstGeom>
          <a:solidFill>
            <a:srgbClr val="0F172A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100" b="1" dirty="0">
                <a:solidFill>
                  <a:srgbClr val="10B981"/>
                </a:solidFill>
              </a:rPr>
              <a:t>👥 Team &amp; Mentor Attribution
</a:t>
            </a:r>
          </a:p>
          <a:p>
            <a:pPr algn="ctr"/>
            <a:r>
              <a:t>Guide: Mr. Subhash J R | Team: Abhijeet, Kanaka, Raghu, Sanjay.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AD9E4E-3552-D851-A5E5-5811B4A5C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72" y="48690"/>
            <a:ext cx="1570482" cy="50745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Project Team &amp; Academic Mentorship</a:t>
            </a:r>
          </a:p>
          <a:p>
            <a:pPr>
              <a:defRPr sz="1300">
                <a:solidFill>
                  <a:srgbClr val="94A3B8"/>
                </a:solidFill>
                <a:latin typeface="Segoe UI"/>
              </a:defRPr>
            </a:pPr>
            <a:r>
              <a:t>Department of Computer Science &amp; Engineering • The Oxford Evening Polytechnic, Bengaluru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71600"/>
            <a:ext cx="20116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ubhash_JR_D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45920"/>
            <a:ext cx="1463040" cy="14630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3200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Mr. Subhash J R</a:t>
            </a:r>
          </a:p>
          <a:p>
            <a:pPr algn="ctr"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Project Guide &amp; Mentor</a:t>
            </a:r>
            <a:br/>
            <a:r>
              <a:t>Lecturer, Dept. of CSE</a:t>
            </a:r>
            <a:br/>
            <a:r>
              <a:t>Expertise: Cyber Defense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1371600"/>
            <a:ext cx="20116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bhijeet_D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1645920"/>
            <a:ext cx="1463040" cy="14630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71800" y="3200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Abhijeet Kumar</a:t>
            </a:r>
          </a:p>
          <a:p>
            <a:pPr algn="ctr"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Team Lead &amp; Core Architect</a:t>
            </a:r>
            <a:br/>
            <a:r>
              <a:t>Reg No: 470CS24701</a:t>
            </a:r>
            <a:br/>
            <a:r>
              <a:t>FastAPI, Asyncio &amp;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66360" y="1371600"/>
            <a:ext cx="20116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Kanaka_C_D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1645920"/>
            <a:ext cx="1463040" cy="14630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57800" y="3200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Kanaka C</a:t>
            </a:r>
          </a:p>
          <a:p>
            <a:pPr algn="ctr"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Security Analyst &amp; UI/UX</a:t>
            </a:r>
            <a:br/>
            <a:r>
              <a:t>Reg No: 470CS23005</a:t>
            </a:r>
            <a:br/>
            <a:r>
              <a:t>Leaflet Maps &amp; Chart.js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371600"/>
            <a:ext cx="20116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aghu_TV_D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0" y="1645920"/>
            <a:ext cx="1463040" cy="14630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543800" y="3200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Raghunandan T V</a:t>
            </a:r>
          </a:p>
          <a:p>
            <a:pPr algn="ctr"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Backend &amp; Threat Intel</a:t>
            </a:r>
            <a:br/>
            <a:r>
              <a:t>Reg No: 470CS23010</a:t>
            </a:r>
            <a:br/>
            <a:r>
              <a:t>Paramiko &amp; SQLite WAL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738360" y="1371600"/>
            <a:ext cx="2011680" cy="47548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anjay_D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0" y="1645920"/>
            <a:ext cx="1463040" cy="146304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829800" y="3200400"/>
            <a:ext cx="1828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Sanjay Kashyap</a:t>
            </a:r>
          </a:p>
          <a:p>
            <a:pPr algn="ctr">
              <a:spcBef>
                <a:spcPts val="400"/>
              </a:spcBef>
              <a:defRPr sz="950">
                <a:solidFill>
                  <a:srgbClr val="CBD5E1"/>
                </a:solidFill>
                <a:latin typeface="Segoe UI"/>
              </a:defRPr>
            </a:pPr>
            <a:r>
              <a:t>Security QA &amp; Pen-Testing</a:t>
            </a:r>
            <a:br/>
            <a:r>
              <a:t>Reg No: 470CS23015</a:t>
            </a:r>
            <a:br/>
            <a:r>
              <a:t>Verification &amp; Hydraware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5752" cy="5029200"/>
          </a:xfrm>
          <a:prstGeom prst="roundRect">
            <a:avLst/>
          </a:prstGeom>
          <a:solidFill>
            <a:srgbClr val="1E293B"/>
          </a:solidFill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2000"/>
              </a:spcBef>
            </a:pPr>
            <a:r>
              <a:rPr sz="3800" b="1">
                <a:solidFill>
                  <a:srgbClr val="00E5FF"/>
                </a:solidFill>
                <a:latin typeface="Segoe UI"/>
              </a:rPr>
              <a:t>THANK YOU!
</a:t>
            </a:r>
          </a:p>
          <a:p>
            <a:pPr algn="ctr">
              <a:spcBef>
                <a:spcPts val="1000"/>
              </a:spcBef>
            </a:pPr>
            <a:r>
              <a:rPr sz="1600" b="1">
                <a:solidFill>
                  <a:srgbClr val="F1F5F9"/>
                </a:solidFill>
                <a:latin typeface="Segoe UI"/>
              </a:rPr>
              <a:t>K.A.R.M.A CLOUD SIEM — AUTONOMOUS AI THREAT DECEPTION PLATFORM
100% Deception Trap Rate • &lt;45ms Telemetry Latency • DeepSeek AI SOC Copilot
Ready for Live Demonstration &amp; Technical Questions</a:t>
            </a:r>
          </a:p>
          <a:p>
            <a:pPr algn="ctr">
              <a:spcBef>
                <a:spcPts val="2400"/>
              </a:spcBef>
            </a:pPr>
            <a:r>
              <a:rPr sz="1300">
                <a:solidFill>
                  <a:srgbClr val="94A3B8"/>
                </a:solidFill>
                <a:latin typeface="Segoe UI"/>
              </a:rPr>
              <a:t>Department of Computer Science &amp; Engineering • Capstone Project (20CS61P)
The Oxford Evening Polytechnic, Bengaluru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1088</Words>
  <Application>Microsoft Office PowerPoint</Application>
  <PresentationFormat>Widescreen</PresentationFormat>
  <Paragraphs>78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Abhijeet K.</dc:creator>
  <cp:keywords/>
  <dc:description>generated using python-pptx</dc:description>
  <cp:lastModifiedBy>Abhijeet K.</cp:lastModifiedBy>
  <cp:revision>7</cp:revision>
  <dcterms:created xsi:type="dcterms:W3CDTF">2013-01-27T09:14:16Z</dcterms:created>
  <dcterms:modified xsi:type="dcterms:W3CDTF">2026-08-24T17:07:51Z</dcterms:modified>
  <cp:category/>
</cp:coreProperties>
</file>